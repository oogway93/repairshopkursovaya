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ект, автор" id="{f6238f8a-5b53-74e5-0ef1-f1957fe73564}">
          <p14:sldIdLst>
            <p14:sldId id="256"/>
          </p14:sldIdLst>
        </p14:section>
        <p14:section name="Цель, задачи" id="{bb3d0fae-a14b-1fbe-bdb1-a870e5eda0b3}">
          <p14:sldIdLst>
            <p14:sldId id="257"/>
          </p14:sldIdLst>
        </p14:section>
        <p14:section name="Основная часть" id="{44b5e08f-8fef-db7d-d1c8-1d0b29770c3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Заключение, выводы" id="{c8b9c897-c312-f723-0055-bc58a1099ea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моей курсовой работы — приложение для ремонтной мастерской электронного оборудования, язык C#.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автоматизировать учёт заказов в мастерской. Для этого решены пять задач: от анализа предметной области до тестирования и публикации кода.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Небольшие мастерские ведут учёт на бумаге. Это приводит к потерям заявок и ошибкам в расчётах. Универсальные CRM избыточны, поэтому нужна специализированная программа.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построено по трём слоям. Зависимости направлены только вниз, поэтому бизнес-логику можно тестировать без запуска окон.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системе две роли. Администратор имеет полный доступ, мастер видит только назначенные ему заказы.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Переходы описаны конечным автоматом в одном месте — классе OrderWorkflow. Интерфейс предлагает только допустимые следующие статусы.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данных реляционная, хотя физически сериализуется в XML. При необходимости достаточно написать новый класс хранилища.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окно — список заказов. Двойной щелчок открывает карточку заказа.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карточке мастер ведёт ремонт. Стоимость пересчитывается автоматически с учётом скидки, гарантии и отказа от ремонта.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Бизнес-логика проверена сорока модульными тестами, все они пройдены.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задачи выполнены.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"/>
          <p:cNvSpPr/>
          <p:nvPr/>
        </p:nvSpPr>
        <p:spPr>
          <a:xfrm>
            <a:off x="45720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КУРСОВАЯ РАБОТА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 для ремонтной мастерской электронного оборудования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по дисциплине «Программная инженерия»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Автор: [Фамилия Имя Отчество], гр. [____]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Руководитель: [должность, И.О. Фамилия]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КубГТУ, Краснодар, 2026</a:t>
            </a:r>
            <a:endParaRPr lang="en-US" sz="1400" dirty="0"/>
          </a:p>
        </p:txBody>
      </p:sp>
      <p:pic>
        <p:nvPicPr>
          <p:cNvPr id="7" name="Image 0" descr="/home/claude/RepairShop/docs/screenshots/02_main_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58876"/>
            <a:ext cx="3108960" cy="20028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</a:t>
            </a:r>
            <a:endParaRPr lang="en-US" sz="3400" dirty="0"/>
          </a:p>
        </p:txBody>
      </p:sp>
      <p:sp>
        <p:nvSpPr>
          <p:cNvPr id="3" name="Карточка цели"/>
          <p:cNvSpPr/>
          <p:nvPr/>
        </p:nvSpPr>
        <p:spPr>
          <a:xfrm>
            <a:off x="457200" y="1188720"/>
            <a:ext cx="2926080" cy="33832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ЦЕЛЬ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Разработать приложение на C#, которое автоматизирует приём, ремонт и выдачу устройств в мастерской и снижает число ошибок в учёте.</a:t>
            </a:r>
            <a:endParaRPr lang="en-US" sz="1600" dirty="0"/>
          </a:p>
        </p:txBody>
      </p:sp>
      <p:sp>
        <p:nvSpPr>
          <p:cNvPr id="6" name="Номер 1"/>
          <p:cNvSpPr/>
          <p:nvPr/>
        </p:nvSpPr>
        <p:spPr>
          <a:xfrm>
            <a:off x="374904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234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Изучить предметную область и аналоги</a:t>
            </a:r>
            <a:endParaRPr lang="en-US" sz="1600" dirty="0"/>
          </a:p>
        </p:txBody>
      </p:sp>
      <p:sp>
        <p:nvSpPr>
          <p:cNvPr id="9" name="Номер 2"/>
          <p:cNvSpPr/>
          <p:nvPr/>
        </p:nvSpPr>
        <p:spPr>
          <a:xfrm>
            <a:off x="3749040" y="1920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Составить техническое задание (ГОСТ 19.201-78)</a:t>
            </a:r>
            <a:endParaRPr lang="en-US" sz="1600" dirty="0"/>
          </a:p>
        </p:txBody>
      </p:sp>
      <p:sp>
        <p:nvSpPr>
          <p:cNvPr id="12" name="Номер 3"/>
          <p:cNvSpPr/>
          <p:nvPr/>
        </p:nvSpPr>
        <p:spPr>
          <a:xfrm>
            <a:off x="3749040" y="2606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606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Спроектировать приложение: UML-диаграммы, модель данных</a:t>
            </a:r>
            <a:endParaRPr lang="en-US" sz="1600" dirty="0"/>
          </a:p>
        </p:txBody>
      </p:sp>
      <p:sp>
        <p:nvSpPr>
          <p:cNvPr id="15" name="Номер 4"/>
          <p:cNvSpPr/>
          <p:nvPr/>
        </p:nvSpPr>
        <p:spPr>
          <a:xfrm>
            <a:off x="374904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291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Реализовать программу на C# (Windows Forms)</a:t>
            </a:r>
            <a:endParaRPr lang="en-US" sz="1600" dirty="0"/>
          </a:p>
        </p:txBody>
      </p:sp>
      <p:sp>
        <p:nvSpPr>
          <p:cNvPr id="18" name="Номер 5"/>
          <p:cNvSpPr/>
          <p:nvPr/>
        </p:nvSpPr>
        <p:spPr>
          <a:xfrm>
            <a:off x="3749040" y="3977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977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Протестировать и разместить код на GitHub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Предметная область</a:t>
            </a:r>
            <a:endParaRPr lang="en-US" sz="3400" dirty="0"/>
          </a:p>
        </p:txBody>
      </p:sp>
      <p:sp>
        <p:nvSpPr>
          <p:cNvPr id="3" name="Проблемы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работают сейчас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Бумажные журналы и таблицы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Теряются заявки, забываются сроки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Запчасти списываются «на глаз»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Стоимость считают вручную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 гарантии узнают со слов клиента</a:t>
            </a:r>
            <a:endParaRPr lang="en-US" sz="1500" dirty="0"/>
          </a:p>
        </p:txBody>
      </p:sp>
      <p:sp>
        <p:nvSpPr>
          <p:cNvPr id="6" name="Решение"/>
          <p:cNvSpPr/>
          <p:nvPr/>
        </p:nvSpPr>
        <p:spPr>
          <a:xfrm>
            <a:off x="4754880" y="118872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даёт программа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8288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Единая база клиентов и заказов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Контроль статусов и сроков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Автоучёт запчастей на складе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Автоматический расчёт стоимости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Гарантия определяется по серийному номеру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</a:t>
            </a:r>
            <a:endParaRPr lang="en-US" sz="3400" dirty="0"/>
          </a:p>
        </p:txBody>
      </p:sp>
      <p:pic>
        <p:nvPicPr>
          <p:cNvPr id="3" name="Image 0" descr="/home/claude/RepairShop/docs/diagram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8678"/>
            <a:ext cx="5212080" cy="2511924"/>
          </a:xfrm>
          <a:prstGeom prst="rect">
            <a:avLst/>
          </a:prstGeom>
        </p:spPr>
      </p:pic>
      <p:sp>
        <p:nvSpPr>
          <p:cNvPr id="4" name="Слой 1"/>
          <p:cNvSpPr/>
          <p:nvPr/>
        </p:nvSpPr>
        <p:spPr>
          <a:xfrm>
            <a:off x="5943600" y="1371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Windows Forms, без бизнес-правил</a:t>
            </a:r>
            <a:endParaRPr lang="en-US" sz="1400" dirty="0"/>
          </a:p>
        </p:txBody>
      </p:sp>
      <p:sp>
        <p:nvSpPr>
          <p:cNvPr id="8" name="Слой 2"/>
          <p:cNvSpPr/>
          <p:nvPr/>
        </p:nvSpPr>
        <p:spPr>
          <a:xfrm>
            <a:off x="5943600" y="23774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Бизнес-логика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670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Сервисы и чистые правила</a:t>
            </a:r>
            <a:endParaRPr lang="en-US" sz="1400" dirty="0"/>
          </a:p>
        </p:txBody>
      </p:sp>
      <p:sp>
        <p:nvSpPr>
          <p:cNvPr id="12" name="Слой 3"/>
          <p:cNvSpPr/>
          <p:nvPr/>
        </p:nvSpPr>
        <p:spPr>
          <a:xfrm>
            <a:off x="5943600" y="3383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IDataStore: XML-файл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Диаграмма прецедентов</a:t>
            </a:r>
            <a:endParaRPr lang="en-US" sz="3400" dirty="0"/>
          </a:p>
        </p:txBody>
      </p:sp>
      <p:pic>
        <p:nvPicPr>
          <p:cNvPr id="3" name="Image 0" descr="/home/claude/RepairShop/docs/diagrams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524" y="1143000"/>
            <a:ext cx="3589833" cy="3566160"/>
          </a:xfrm>
          <a:prstGeom prst="rect">
            <a:avLst/>
          </a:prstGeom>
        </p:spPr>
      </p:pic>
      <p:sp>
        <p:nvSpPr>
          <p:cNvPr id="4" name="Администратор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Приём и выдача устройств, назначение мастера, склад, прайс-лист, сотрудники, отчёты</a:t>
            </a:r>
            <a:endParaRPr lang="en-US" sz="1400" dirty="0"/>
          </a:p>
        </p:txBody>
      </p:sp>
      <p:sp>
        <p:nvSpPr>
          <p:cNvPr id="7" name="Мастер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Мастер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Свои заказы, смена статусов, добавление работ и запчастей, просмотр склада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Жизненный цикл заказа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Принят → Диагностика → Ремонт → Готов → Выдан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Отмена возможна до готовности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Диагностика и ремонт — только с назначенным мастером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«Готов» — только если указаны работы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Недопустимый статус выбрать нельзя</a:t>
            </a:r>
            <a:endParaRPr lang="en-US" sz="1600" dirty="0"/>
          </a:p>
        </p:txBody>
      </p:sp>
      <p:pic>
        <p:nvPicPr>
          <p:cNvPr id="4" name="Image 0" descr="/home/claude/RepairShop/docs/diagrams/st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811" y="1097280"/>
            <a:ext cx="1992459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данных</a:t>
            </a:r>
            <a:endParaRPr lang="en-US" sz="3400" dirty="0"/>
          </a:p>
        </p:txBody>
      </p:sp>
      <p:pic>
        <p:nvPicPr>
          <p:cNvPr id="3" name="Image 0" descr="/home/claude/RepairShop/docs/diagrams/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598" y="1188720"/>
            <a:ext cx="4609844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37160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Клиент → устройства → заказы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Заказ содержит работы, запчасти и историю статусов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Цена копируется в заказ при добавлении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Хранение в XML, доступ через IDataStore — можно перейти на SQLite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программы</a:t>
            </a:r>
            <a:endParaRPr lang="en-US" sz="3400" dirty="0"/>
          </a:p>
        </p:txBody>
      </p:sp>
      <p:pic>
        <p:nvPicPr>
          <p:cNvPr id="3" name="Image 0" descr="/home/claude/RepairShop/docs/screenshots/02_main_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602" y="1188720"/>
            <a:ext cx="5393595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17920" y="137160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Поиск и фильтры по статусу и мастеру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Просроченные и готовые заказы выделены цветом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Вкладки: клиенты, склад, прайс, отчёты, сотрудники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Экспорт заказов в CSV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Карточка заказа</a:t>
            </a:r>
            <a:endParaRPr lang="en-US" sz="3400" dirty="0"/>
          </a:p>
        </p:txBody>
      </p:sp>
      <p:pic>
        <p:nvPicPr>
          <p:cNvPr id="3" name="Image 0" descr="/home/claude/RepairShop/docs/screenshots/03_order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1670"/>
            <a:ext cx="4480560" cy="3468821"/>
          </a:xfrm>
          <a:prstGeom prst="rect">
            <a:avLst/>
          </a:prstGeom>
        </p:spPr>
      </p:pic>
      <p:sp>
        <p:nvSpPr>
          <p:cNvPr id="4" name="Правило 1"/>
          <p:cNvSpPr/>
          <p:nvPr/>
        </p:nvSpPr>
        <p:spPr>
          <a:xfrm>
            <a:off x="5212080" y="1234440"/>
            <a:ext cx="3474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49240" y="1234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5–10 %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1234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скидка постоянному клиенту на работы</a:t>
            </a:r>
            <a:endParaRPr lang="en-US" sz="1300" dirty="0"/>
          </a:p>
        </p:txBody>
      </p:sp>
      <p:sp>
        <p:nvSpPr>
          <p:cNvPr id="7" name="Правило 2"/>
          <p:cNvSpPr/>
          <p:nvPr/>
        </p:nvSpPr>
        <p:spPr>
          <a:xfrm>
            <a:off x="5212080" y="2103120"/>
            <a:ext cx="3474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дней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гарантия: повторный ремонт бесплатно</a:t>
            </a:r>
            <a:endParaRPr lang="en-US" sz="1300" dirty="0"/>
          </a:p>
        </p:txBody>
      </p:sp>
      <p:sp>
        <p:nvSpPr>
          <p:cNvPr id="10" name="Правило 3"/>
          <p:cNvSpPr/>
          <p:nvPr/>
        </p:nvSpPr>
        <p:spPr>
          <a:xfrm>
            <a:off x="5212080" y="2971800"/>
            <a:ext cx="3474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2971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₽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9718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диагностика при отказе от ремонта</a:t>
            </a:r>
            <a:endParaRPr lang="en-US" sz="1300" dirty="0"/>
          </a:p>
        </p:txBody>
      </p:sp>
      <p:sp>
        <p:nvSpPr>
          <p:cNvPr id="13" name="Правило 4"/>
          <p:cNvSpPr/>
          <p:nvPr/>
        </p:nvSpPr>
        <p:spPr>
          <a:xfrm>
            <a:off x="5212080" y="3840480"/>
            <a:ext cx="3474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3840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840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списание и возврат запчастей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</a:t>
            </a:r>
            <a:endParaRPr lang="en-US" sz="3400" dirty="0"/>
          </a:p>
        </p:txBody>
      </p:sp>
      <p:sp>
        <p:nvSpPr>
          <p:cNvPr id="3" name="Показатель 1"/>
          <p:cNvSpPr/>
          <p:nvPr/>
        </p:nvSpPr>
        <p:spPr>
          <a:xfrm>
            <a:off x="457200" y="128016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модульных тестов</a:t>
            </a:r>
            <a:endParaRPr lang="en-US" sz="1400" dirty="0"/>
          </a:p>
        </p:txBody>
      </p:sp>
      <p:sp>
        <p:nvSpPr>
          <p:cNvPr id="6" name="Показатель 2"/>
          <p:cNvSpPr/>
          <p:nvPr/>
        </p:nvSpPr>
        <p:spPr>
          <a:xfrm>
            <a:off x="2542032" y="128016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из 40 пройдено</a:t>
            </a:r>
            <a:endParaRPr lang="en-US" sz="1400" dirty="0"/>
          </a:p>
        </p:txBody>
      </p:sp>
      <p:sp>
        <p:nvSpPr>
          <p:cNvPr id="9" name="Показатель 3"/>
          <p:cNvSpPr/>
          <p:nvPr/>
        </p:nvSpPr>
        <p:spPr>
          <a:xfrm>
            <a:off x="4626864" y="128016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диаграмм и схем</a:t>
            </a:r>
            <a:endParaRPr lang="en-US" sz="1400" dirty="0"/>
          </a:p>
        </p:txBody>
      </p:sp>
      <p:sp>
        <p:nvSpPr>
          <p:cNvPr id="12" name="Показатель 4"/>
          <p:cNvSpPr/>
          <p:nvPr/>
        </p:nvSpPr>
        <p:spPr>
          <a:xfrm>
            <a:off x="6711696" y="128016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~2800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строк кода C#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Тесты проверяют правила без запуска окон: FixedClock и MemoryDataStore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Покрыты авторизация, статусы, склад, стоимость, гарантия, поиск, хранилище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C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Разработано приложение для ремонтной мастерской на C# и Windows Forms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Правила мастерской вынесены в тестируемую бизнес-логику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Заказы, склад и стоимость ведутся автоматически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Развитие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SQLite или SQL Server для нескольких рабочих мест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SMS-уведомления клиентам о готовности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Печать актов и QR-код на квитанции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Исходный код: github.com/[логин]/RepairShop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pair Shop">
  <a:themeElements>
    <a:clrScheme name="Repair Shop">
      <a:dk1>
        <a:srgbClr val="17252C"/>
      </a:dk1>
      <a:lt1>
        <a:srgbClr val="FFFFFF"/>
      </a:lt1>
      <a:dk2>
        <a:srgbClr val="0F3D4A"/>
      </a:dk2>
      <a:lt2>
        <a:srgbClr val="EEF3F4"/>
      </a:lt2>
      <a:accent1>
        <a:srgbClr val="F2A33A"/>
      </a:accent1>
      <a:accent2>
        <a:srgbClr val="2A7F8E"/>
      </a:accent2>
      <a:accent3>
        <a:srgbClr val="5C7C89"/>
      </a:accent3>
      <a:accent4>
        <a:srgbClr val="C8553D"/>
      </a:accent4>
      <a:accent5>
        <a:srgbClr val="7FB77E"/>
      </a:accent5>
      <a:accent6>
        <a:srgbClr val="8A6FB3"/>
      </a:accent6>
      <a:hlink>
        <a:srgbClr val="2A7F8E"/>
      </a:hlink>
      <a:folHlink>
        <a:srgbClr val="5C7C89"/>
      </a:folHlink>
    </a:clrScheme>
    <a:fontScheme name="Repair Sh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 для ремонтной мастерской электронного оборудования</dc:title>
  <dc:subject>PptxGenJS Presentation</dc:subject>
  <dc:creator>PptxGenJS</dc:creator>
  <cp:lastModifiedBy>PptxGenJS</cp:lastModifiedBy>
  <cp:revision>1</cp:revision>
  <dcterms:created xsi:type="dcterms:W3CDTF">2026-10-21T22:01:36Z</dcterms:created>
  <dcterms:modified xsi:type="dcterms:W3CDTF">2026-10-21T22:01:36Z</dcterms:modified>
</cp:coreProperties>
</file>